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062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1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mar987/Breakout_sans_block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omar987/Breakout_sans_blocks/tree/Image-to-byte-array-converter-for-emu80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2064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68096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4128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80160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536192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92224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48256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04288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560320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816352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72384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328416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584448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096512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352544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08576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864608"/>
            <a:ext cx="9144000" cy="109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640080"/>
            <a:ext cx="8046720" cy="1371600"/>
          </a:xfrm>
          <a:prstGeom prst="rect">
            <a:avLst/>
          </a:prstGeom>
          <a:solidFill>
            <a:srgbClr val="55FFFF">
              <a:alpha val="12000"/>
            </a:srgbClr>
          </a:solidFill>
          <a:ln w="25400">
            <a:solidFill>
              <a:srgbClr val="55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Sektirme Oyunu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002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574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146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718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290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862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434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578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150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436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294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866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438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724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010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0" y="4572000"/>
            <a:ext cx="201168" cy="201168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58200" y="4572000"/>
            <a:ext cx="201168" cy="201168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86800" y="4572000"/>
            <a:ext cx="201168" cy="201168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915400" y="4572000"/>
            <a:ext cx="201168" cy="201168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300" i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Marmara Üniversitesi - Bilgisayar Mühendisliği - Mikroişlemciler</a:t>
            </a:r>
            <a:endParaRPr lang="en-US" sz="130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1A0396F9-41D6-462D-B172-A459A77C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82234" y="767588"/>
            <a:ext cx="5579532" cy="11159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2800" b="1" dirty="0">
                <a:solidFill>
                  <a:srgbClr val="55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Oyun hakkında temel bilgiler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55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749040" cy="3657600"/>
          </a:xfrm>
          <a:prstGeom prst="rect">
            <a:avLst/>
          </a:prstGeom>
          <a:solidFill>
            <a:srgbClr val="0000AA"/>
          </a:solidFill>
          <a:ln w="12700">
            <a:solidFill>
              <a:srgbClr val="AA00A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FFFF55"/>
                </a:solidFill>
                <a:latin typeface="Consolas" pitchFamily="34" charset="0"/>
              </a:rPr>
              <a:t>En Basit Halinde: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383280" cy="2916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Sans Blocks (Bloksuz Breakout), adından anlaşılabileceği üzere Breakout, Arkanoid gibi klasik oyunlardan esinlenmiştir.</a:t>
            </a:r>
          </a:p>
          <a:p>
            <a:pPr marL="0" indent="0" algn="l">
              <a:buNone/>
            </a:pPr>
            <a:endParaRPr lang="tr-TR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tr-T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 bu oyunlardan temel farkı, adından anlaşılacağı üzere kırılacak hiçbir bloğun olmamasıdır. Bunun yerine oyun ilerledikçe zorluk artar.</a:t>
            </a:r>
          </a:p>
          <a:p>
            <a:pPr marL="0" indent="0" algn="l">
              <a:buNone/>
            </a:pPr>
            <a:endParaRPr lang="tr-TR" sz="12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tr-TR" sz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Oyun Emu8086 da dahil (ama oldukça yavaş biçimde) olmak üzere çoğu DOS emülatöründe çalıştırılabilecek şekilde, olabildiğince yalın tutulmuştur.</a:t>
            </a:r>
          </a:p>
        </p:txBody>
      </p:sp>
      <p:sp>
        <p:nvSpPr>
          <p:cNvPr id="8" name="Shape 6"/>
          <p:cNvSpPr/>
          <p:nvPr/>
        </p:nvSpPr>
        <p:spPr>
          <a:xfrm>
            <a:off x="4480560" y="960120"/>
            <a:ext cx="4206240" cy="3657600"/>
          </a:xfrm>
          <a:prstGeom prst="rect">
            <a:avLst/>
          </a:prstGeom>
          <a:solidFill>
            <a:srgbClr val="0000AA"/>
          </a:solidFill>
          <a:ln w="12700">
            <a:solidFill>
              <a:srgbClr val="AA00A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 Özellikler: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554480"/>
            <a:ext cx="3931920" cy="491469"/>
          </a:xfrm>
          <a:prstGeom prst="rect">
            <a:avLst/>
          </a:prstGeom>
          <a:solidFill>
            <a:srgbClr val="1A1A38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80347"/>
            <a:ext cx="3749040" cy="439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tr-T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ile kontrol,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2149417"/>
            <a:ext cx="3931920" cy="491469"/>
          </a:xfrm>
          <a:prstGeom prst="rect">
            <a:avLst/>
          </a:prstGeom>
          <a:solidFill>
            <a:srgbClr val="555555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175283"/>
            <a:ext cx="3749040" cy="439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tr-T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sistemi,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2744353"/>
            <a:ext cx="3931920" cy="491469"/>
          </a:xfrm>
          <a:prstGeom prst="rect">
            <a:avLst/>
          </a:prstGeom>
          <a:solidFill>
            <a:srgbClr val="1A1A38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770220"/>
            <a:ext cx="3749040" cy="439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tr-T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Giderek hızlanan oyun biçimi,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3339290"/>
            <a:ext cx="3931920" cy="491469"/>
          </a:xfrm>
          <a:prstGeom prst="rect">
            <a:avLst/>
          </a:prstGeom>
          <a:solidFill>
            <a:srgbClr val="555555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365157"/>
            <a:ext cx="3749040" cy="439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tr-T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 ilerledikçe isabetin zorlaştırılması,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3934227"/>
            <a:ext cx="3931920" cy="491469"/>
          </a:xfrm>
          <a:prstGeom prst="rect">
            <a:avLst/>
          </a:prstGeom>
          <a:solidFill>
            <a:srgbClr val="1A1A38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960093"/>
            <a:ext cx="3749040" cy="439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tr-T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oyun için özel pixel art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2800" b="1" dirty="0">
                <a:solidFill>
                  <a:srgbClr val="FF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Teknik Kısım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FF5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3931920"/>
          </a:xfrm>
          <a:prstGeom prst="rect">
            <a:avLst/>
          </a:prstGeom>
          <a:solidFill>
            <a:srgbClr val="0000AA"/>
          </a:solidFill>
          <a:ln w="12700">
            <a:solidFill>
              <a:srgbClr val="55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411480"/>
          </a:xfrm>
          <a:prstGeom prst="rect">
            <a:avLst/>
          </a:prstGeom>
          <a:solidFill>
            <a:srgbClr val="55FFFF">
              <a:alpha val="25000"/>
            </a:srgbClr>
          </a:solidFill>
          <a:ln w="12700">
            <a:solidFill>
              <a:srgbClr val="55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tr-TR" sz="1100" b="1" dirty="0">
                <a:solidFill>
                  <a:srgbClr val="55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Interrupt’lar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5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Oyunda gereken birçok karmaşık komut mecburi olarak sistem interrupt’larıyla gerçekleştirilmiştir. Bunlardan bazıları: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2121408"/>
            <a:ext cx="2514600" cy="2569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5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10h —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Ax =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13h</a:t>
            </a:r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Ekranı grafik modunda başlatır.</a:t>
            </a:r>
          </a:p>
          <a:p>
            <a:pPr marL="0" indent="0">
              <a:buNone/>
            </a:pPr>
            <a:endParaRPr lang="tr-TR" sz="1050" dirty="0"/>
          </a:p>
          <a:p>
            <a:r>
              <a:rPr lang="en-US" sz="1050" b="1" dirty="0">
                <a:solidFill>
                  <a:srgbClr val="55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10h — A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0Dh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Cx = Topun x konumu, Dx = Platformun y konumu</a:t>
            </a:r>
          </a:p>
          <a:p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Piksel rengini döndürür, bu int. Top ile platformun sözde temas edip etmediğini kontrol ederken kullanılır.</a:t>
            </a:r>
            <a:endParaRPr lang="tr-TR" sz="1050" dirty="0"/>
          </a:p>
          <a:p>
            <a:pPr marL="0" indent="0">
              <a:buNone/>
            </a:pPr>
            <a:endParaRPr lang="tr-TR" sz="1050" dirty="0"/>
          </a:p>
          <a:p>
            <a:r>
              <a:rPr lang="en-US" sz="1050" b="1" dirty="0">
                <a:solidFill>
                  <a:srgbClr val="55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A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Farenin konumunu döndürür. Platformun konumunu belirlemede kullanılır.</a:t>
            </a:r>
          </a:p>
          <a:p>
            <a:endParaRPr lang="tr-TR" sz="1050" dirty="0"/>
          </a:p>
          <a:p>
            <a:r>
              <a:rPr lang="en-US" sz="1050" b="1" dirty="0">
                <a:solidFill>
                  <a:srgbClr val="55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1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A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Sistem zamanını döndürür. Timer’larda kullanılır.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0000AA"/>
          </a:solidFill>
          <a:ln w="12700">
            <a:solidFill>
              <a:srgbClr val="FFF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solidFill>
            <a:srgbClr val="FFFF55">
              <a:alpha val="25000"/>
            </a:srgbClr>
          </a:solidFill>
          <a:ln w="12700">
            <a:solidFill>
              <a:srgbClr val="FFF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tr-TR" sz="1100" b="1" dirty="0">
                <a:solidFill>
                  <a:srgbClr val="FF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Hafıza bakımından</a:t>
            </a:r>
            <a:endParaRPr lang="en-US" sz="11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C6FEE8-5992-4FCB-9143-61A479293602}"/>
              </a:ext>
            </a:extLst>
          </p:cNvPr>
          <p:cNvGrpSpPr/>
          <p:nvPr/>
        </p:nvGrpSpPr>
        <p:grpSpPr>
          <a:xfrm>
            <a:off x="3355848" y="1463040"/>
            <a:ext cx="2514600" cy="3227832"/>
            <a:chOff x="3355848" y="1463040"/>
            <a:chExt cx="2514600" cy="1911096"/>
          </a:xfrm>
        </p:grpSpPr>
        <p:sp>
          <p:nvSpPr>
            <p:cNvPr id="15" name="Text 13"/>
            <p:cNvSpPr/>
            <p:nvPr/>
          </p:nvSpPr>
          <p:spPr>
            <a:xfrm>
              <a:off x="3355848" y="1463040"/>
              <a:ext cx="251460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tr-TR" sz="10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Oyun COM şablonu üzerinden oluşturulmuştur.</a:t>
              </a:r>
              <a:endParaRPr lang="en-US" sz="10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355848" y="2121408"/>
              <a:ext cx="251460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tr-TR" sz="10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Değişkenler ağırlıkla byte olacak şekilde sıkça kullanılmıştır.</a:t>
              </a:r>
              <a:endParaRPr lang="en-US" sz="1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355848" y="2779776"/>
              <a:ext cx="251460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tr-TR" sz="10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Konum gibi 256’dan fazla değer alabilen değişkenler word şeklinde oluşturulmuştur.</a:t>
              </a:r>
              <a:endParaRPr lang="en-US" sz="105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6126480" y="960120"/>
            <a:ext cx="2743200" cy="3931920"/>
          </a:xfrm>
          <a:prstGeom prst="rect">
            <a:avLst/>
          </a:prstGeom>
          <a:solidFill>
            <a:srgbClr val="0000AA"/>
          </a:solidFill>
          <a:ln w="12700">
            <a:solidFill>
              <a:srgbClr val="FF5555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FF5555">
              <a:alpha val="25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tr-TR" sz="11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Basit yapı</a:t>
            </a:r>
            <a:endParaRPr lang="en-US" sz="11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A3B409-E680-4EC0-84FA-F46421C83753}"/>
              </a:ext>
            </a:extLst>
          </p:cNvPr>
          <p:cNvGrpSpPr/>
          <p:nvPr/>
        </p:nvGrpSpPr>
        <p:grpSpPr>
          <a:xfrm>
            <a:off x="6236208" y="1463040"/>
            <a:ext cx="2514600" cy="3227832"/>
            <a:chOff x="6236208" y="1463040"/>
            <a:chExt cx="2514600" cy="1911096"/>
          </a:xfrm>
        </p:grpSpPr>
        <p:sp>
          <p:nvSpPr>
            <p:cNvPr id="23" name="Text 21"/>
            <p:cNvSpPr/>
            <p:nvPr/>
          </p:nvSpPr>
          <p:spPr>
            <a:xfrm>
              <a:off x="6236208" y="1463040"/>
              <a:ext cx="251460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tr-TR" sz="10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Koddaki sözde fonksiyonlar jmp ile atlanan parçalardan ibarettir.</a:t>
              </a:r>
              <a:endParaRPr lang="en-US" sz="10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236208" y="2121408"/>
              <a:ext cx="251460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tr-TR" sz="10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Flag’lerin değişme olasılığından negatif toplama işlemi yerine dallanan fonksiyonlarla ayrı toplama ve çıkarma işlemleri yapılmıştır.</a:t>
              </a:r>
              <a:endParaRPr lang="en-US" sz="10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236208" y="2779776"/>
              <a:ext cx="251460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tr-TR" sz="10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Stack sadece iç içe döngülerde kullanılmıştır.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2800" b="1" dirty="0">
                <a:solidFill>
                  <a:srgbClr val="FF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Oyunun akış çizelgesi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FFFF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41248"/>
            <a:ext cx="1572768" cy="1188720"/>
          </a:xfrm>
          <a:prstGeom prst="rect">
            <a:avLst/>
          </a:prstGeom>
          <a:solidFill>
            <a:srgbClr val="0000AA"/>
          </a:solidFill>
          <a:ln w="25400">
            <a:solidFill>
              <a:srgbClr val="FF5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1572768" cy="347472"/>
          </a:xfrm>
          <a:prstGeom prst="rect">
            <a:avLst/>
          </a:prstGeom>
          <a:solidFill>
            <a:srgbClr val="FF55FF">
              <a:alpha val="28000"/>
            </a:srgbClr>
          </a:solidFill>
          <a:ln w="12700">
            <a:solidFill>
              <a:srgbClr val="FF5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953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İlk adım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" y="1243584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grafik modunda oluşturulur.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841248"/>
            <a:ext cx="1572768" cy="1188720"/>
          </a:xfrm>
          <a:prstGeom prst="rect">
            <a:avLst/>
          </a:prstGeom>
          <a:solidFill>
            <a:srgbClr val="0000AA"/>
          </a:solidFill>
          <a:ln w="25400">
            <a:solidFill>
              <a:srgbClr val="55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841248"/>
            <a:ext cx="1572768" cy="347472"/>
          </a:xfrm>
          <a:prstGeom prst="rect">
            <a:avLst/>
          </a:prstGeom>
          <a:solidFill>
            <a:srgbClr val="55FFFF">
              <a:alpha val="28000"/>
            </a:srgbClr>
          </a:solidFill>
          <a:ln w="12700">
            <a:solidFill>
              <a:srgbClr val="55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85953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55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Başlık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1243584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ekrana yazdırılır,</a:t>
            </a:r>
          </a:p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Silinmeden önce 10 s beklenir.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03320" y="841248"/>
            <a:ext cx="1572768" cy="1188720"/>
          </a:xfrm>
          <a:prstGeom prst="rect">
            <a:avLst/>
          </a:prstGeom>
          <a:solidFill>
            <a:srgbClr val="0000AA"/>
          </a:solidFill>
          <a:ln w="25400">
            <a:solidFill>
              <a:srgbClr val="FF5555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841248"/>
            <a:ext cx="1572768" cy="347472"/>
          </a:xfrm>
          <a:prstGeom prst="rect">
            <a:avLst/>
          </a:prstGeom>
          <a:solidFill>
            <a:srgbClr val="FF5555">
              <a:alpha val="28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85953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Kalpler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76472" y="1243584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göstergeleri ilk defa çizilir.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841247"/>
            <a:ext cx="3291840" cy="2670037"/>
          </a:xfrm>
          <a:prstGeom prst="rect">
            <a:avLst/>
          </a:prstGeom>
          <a:solidFill>
            <a:srgbClr val="0000AA"/>
          </a:solidFill>
          <a:ln w="25400">
            <a:solidFill>
              <a:srgbClr val="FFF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841247"/>
            <a:ext cx="3291840" cy="347473"/>
          </a:xfrm>
          <a:prstGeom prst="rect">
            <a:avLst/>
          </a:prstGeom>
          <a:solidFill>
            <a:srgbClr val="FFFF55">
              <a:alpha val="28000"/>
            </a:srgbClr>
          </a:solidFill>
          <a:ln w="12700">
            <a:solidFill>
              <a:srgbClr val="FFFF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90653" y="882324"/>
            <a:ext cx="3100454" cy="297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03320" y="2322576"/>
            <a:ext cx="1572768" cy="1188720"/>
          </a:xfrm>
          <a:prstGeom prst="rect">
            <a:avLst/>
          </a:prstGeom>
          <a:solidFill>
            <a:srgbClr val="0000AA"/>
          </a:solidFill>
          <a:ln w="25400">
            <a:solidFill>
              <a:srgbClr val="55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2322576"/>
            <a:ext cx="1572768" cy="347472"/>
          </a:xfrm>
          <a:prstGeom prst="rect">
            <a:avLst/>
          </a:prstGeom>
          <a:solidFill>
            <a:srgbClr val="55FFFF">
              <a:alpha val="28000"/>
            </a:srgbClr>
          </a:solidFill>
          <a:ln w="12700">
            <a:solidFill>
              <a:srgbClr val="55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23408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55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Konum Kontrolleri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76472" y="2724912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Platformun ekran sınırlarına geçmesi konumunun kontrol edilmesiyle sağlanır.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0" y="2331720"/>
            <a:ext cx="1572768" cy="1188720"/>
          </a:xfrm>
          <a:prstGeom prst="rect">
            <a:avLst/>
          </a:prstGeom>
          <a:solidFill>
            <a:srgbClr val="0000AA"/>
          </a:solidFill>
          <a:ln w="25400">
            <a:solidFill>
              <a:srgbClr val="FFF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011680" y="2331720"/>
            <a:ext cx="1572768" cy="347472"/>
          </a:xfrm>
          <a:prstGeom prst="rect">
            <a:avLst/>
          </a:prstGeom>
          <a:solidFill>
            <a:srgbClr val="FFFF55">
              <a:alpha val="28000"/>
            </a:srgbClr>
          </a:solidFill>
          <a:ln w="12700">
            <a:solidFill>
              <a:srgbClr val="FFFF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235000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Hız-Yön Kontrolleri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84832" y="2734056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Topun ekran sınırlarına ulaşıp ulaşmadığı kontrol edilir ve yeni hız ile yönü belirlenir.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2331720"/>
            <a:ext cx="1572768" cy="1188720"/>
          </a:xfrm>
          <a:prstGeom prst="rect">
            <a:avLst/>
          </a:prstGeom>
          <a:solidFill>
            <a:srgbClr val="0000AA"/>
          </a:solidFill>
          <a:ln w="25400">
            <a:solidFill>
              <a:srgbClr val="FF5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2331720"/>
            <a:ext cx="1572768" cy="347472"/>
          </a:xfrm>
          <a:prstGeom prst="rect">
            <a:avLst/>
          </a:prstGeom>
          <a:solidFill>
            <a:srgbClr val="FF55FF">
              <a:alpha val="28000"/>
            </a:srgbClr>
          </a:solidFill>
          <a:ln w="12700">
            <a:solidFill>
              <a:srgbClr val="FF5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35000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Temas Kontrolü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93192" y="2734056"/>
            <a:ext cx="14264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Topun platformla temas edip etmediği kontrol edilir.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11096" y="1435608"/>
            <a:ext cx="100584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94560" y="131673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02736" y="1435608"/>
            <a:ext cx="100584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131673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94376" y="1435608"/>
            <a:ext cx="100584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61510" y="3581401"/>
            <a:ext cx="134493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11096" y="2926080"/>
            <a:ext cx="82296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7280" y="3840480"/>
            <a:ext cx="6949440" cy="822960"/>
          </a:xfrm>
          <a:prstGeom prst="rect">
            <a:avLst/>
          </a:prstGeom>
          <a:solidFill>
            <a:srgbClr val="0000AA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25507" y="3913632"/>
            <a:ext cx="613833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Eğer can 0’a düşerse bu blok çalışır.</a:t>
            </a:r>
          </a:p>
          <a:p>
            <a:pPr marL="0" indent="0" algn="ctr"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 adam ekranda belirir, 5 saniye sonra oyun sona erer.</a:t>
            </a:r>
          </a:p>
        </p:txBody>
      </p:sp>
      <p:sp>
        <p:nvSpPr>
          <p:cNvPr id="65" name="Shape 11">
            <a:extLst>
              <a:ext uri="{FF2B5EF4-FFF2-40B4-BE49-F238E27FC236}">
                <a16:creationId xmlns:a16="http://schemas.microsoft.com/office/drawing/2014/main" id="{2676ED5E-A9AF-432B-9EFD-1CA73E02525A}"/>
              </a:ext>
            </a:extLst>
          </p:cNvPr>
          <p:cNvSpPr/>
          <p:nvPr/>
        </p:nvSpPr>
        <p:spPr>
          <a:xfrm>
            <a:off x="1106424" y="3849624"/>
            <a:ext cx="573363" cy="813816"/>
          </a:xfrm>
          <a:prstGeom prst="rect">
            <a:avLst/>
          </a:prstGeom>
          <a:solidFill>
            <a:srgbClr val="FF5555">
              <a:alpha val="28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85B52942-7754-4B6E-9A58-51D37A285151}"/>
              </a:ext>
            </a:extLst>
          </p:cNvPr>
          <p:cNvSpPr/>
          <p:nvPr/>
        </p:nvSpPr>
        <p:spPr>
          <a:xfrm>
            <a:off x="1152144" y="3867912"/>
            <a:ext cx="4666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Oyun</a:t>
            </a:r>
          </a:p>
          <a:p>
            <a:pPr marL="0" indent="0" algn="ctr">
              <a:buNone/>
            </a:pPr>
            <a:r>
              <a:rPr lang="tr-TR" sz="1000" b="1" dirty="0">
                <a:solidFill>
                  <a:srgbClr val="FF5555"/>
                </a:solidFill>
                <a:latin typeface="Consolas" pitchFamily="34" charset="0"/>
              </a:rPr>
              <a:t>Sonu</a:t>
            </a:r>
            <a:endParaRPr lang="en-US" sz="1000" dirty="0"/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80B5C697-AF17-4C57-A819-F43639DE839D}"/>
              </a:ext>
            </a:extLst>
          </p:cNvPr>
          <p:cNvSpPr/>
          <p:nvPr/>
        </p:nvSpPr>
        <p:spPr>
          <a:xfrm>
            <a:off x="5440680" y="1238843"/>
            <a:ext cx="1572768" cy="1101000"/>
          </a:xfrm>
          <a:prstGeom prst="rect">
            <a:avLst/>
          </a:prstGeom>
          <a:solidFill>
            <a:srgbClr val="0000AA"/>
          </a:solidFill>
          <a:ln w="25400">
            <a:solidFill>
              <a:srgbClr val="55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9" name="Shape 7">
            <a:extLst>
              <a:ext uri="{FF2B5EF4-FFF2-40B4-BE49-F238E27FC236}">
                <a16:creationId xmlns:a16="http://schemas.microsoft.com/office/drawing/2014/main" id="{FD691E4A-0D01-4FFB-9EEB-7C2BA26B58B0}"/>
              </a:ext>
            </a:extLst>
          </p:cNvPr>
          <p:cNvSpPr/>
          <p:nvPr/>
        </p:nvSpPr>
        <p:spPr>
          <a:xfrm>
            <a:off x="5440680" y="1238843"/>
            <a:ext cx="1572768" cy="321831"/>
          </a:xfrm>
          <a:prstGeom prst="rect">
            <a:avLst/>
          </a:prstGeom>
          <a:solidFill>
            <a:srgbClr val="55FFFF">
              <a:alpha val="28000"/>
            </a:srgbClr>
          </a:solidFill>
          <a:ln w="12700">
            <a:solidFill>
              <a:srgbClr val="55FFFF"/>
            </a:solidFill>
            <a:prstDash val="solid"/>
          </a:ln>
        </p:spPr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F67A2A8C-9B27-4925-9918-2674686BCE5D}"/>
              </a:ext>
            </a:extLst>
          </p:cNvPr>
          <p:cNvSpPr/>
          <p:nvPr/>
        </p:nvSpPr>
        <p:spPr>
          <a:xfrm>
            <a:off x="5486400" y="1255781"/>
            <a:ext cx="1481328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55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000" dirty="0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719BA301-8EC4-41BC-9EDC-124410D7F1A2}"/>
              </a:ext>
            </a:extLst>
          </p:cNvPr>
          <p:cNvSpPr/>
          <p:nvPr/>
        </p:nvSpPr>
        <p:spPr>
          <a:xfrm>
            <a:off x="5513832" y="1611489"/>
            <a:ext cx="1426464" cy="69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Farenin x konumu alınır ve platformun yeni konumu olarak atanır.</a:t>
            </a:r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989BEA07-8182-404B-9682-F38475CC0F96}"/>
              </a:ext>
            </a:extLst>
          </p:cNvPr>
          <p:cNvSpPr/>
          <p:nvPr/>
        </p:nvSpPr>
        <p:spPr>
          <a:xfrm>
            <a:off x="5623560" y="1679243"/>
            <a:ext cx="182880" cy="211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3" name="Shape 10">
            <a:extLst>
              <a:ext uri="{FF2B5EF4-FFF2-40B4-BE49-F238E27FC236}">
                <a16:creationId xmlns:a16="http://schemas.microsoft.com/office/drawing/2014/main" id="{AE5B5703-1CDC-49EE-AFFB-42CA90019E99}"/>
              </a:ext>
            </a:extLst>
          </p:cNvPr>
          <p:cNvSpPr/>
          <p:nvPr/>
        </p:nvSpPr>
        <p:spPr>
          <a:xfrm>
            <a:off x="7069497" y="1239000"/>
            <a:ext cx="1572768" cy="1101000"/>
          </a:xfrm>
          <a:prstGeom prst="rect">
            <a:avLst/>
          </a:prstGeom>
          <a:solidFill>
            <a:srgbClr val="0000AA"/>
          </a:solidFill>
          <a:ln w="25400">
            <a:solidFill>
              <a:srgbClr val="FF5555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4" name="Shape 11">
            <a:extLst>
              <a:ext uri="{FF2B5EF4-FFF2-40B4-BE49-F238E27FC236}">
                <a16:creationId xmlns:a16="http://schemas.microsoft.com/office/drawing/2014/main" id="{E5CA86DD-D4AD-4178-BCD4-777EE2C46C3B}"/>
              </a:ext>
            </a:extLst>
          </p:cNvPr>
          <p:cNvSpPr/>
          <p:nvPr/>
        </p:nvSpPr>
        <p:spPr>
          <a:xfrm>
            <a:off x="7069497" y="1239000"/>
            <a:ext cx="1572768" cy="321831"/>
          </a:xfrm>
          <a:prstGeom prst="rect">
            <a:avLst/>
          </a:prstGeom>
          <a:solidFill>
            <a:srgbClr val="FF5555">
              <a:alpha val="28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D62AB435-E4E3-4FCF-9580-3F894849B3F0}"/>
              </a:ext>
            </a:extLst>
          </p:cNvPr>
          <p:cNvSpPr/>
          <p:nvPr/>
        </p:nvSpPr>
        <p:spPr>
          <a:xfrm>
            <a:off x="7115217" y="1255938"/>
            <a:ext cx="1481328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000" dirty="0"/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D75E674A-D9EE-43A6-B459-074EA3A6F333}"/>
              </a:ext>
            </a:extLst>
          </p:cNvPr>
          <p:cNvSpPr/>
          <p:nvPr/>
        </p:nvSpPr>
        <p:spPr>
          <a:xfrm>
            <a:off x="7142649" y="1611646"/>
            <a:ext cx="1426464" cy="69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Topun hızına göre sonraki konumu belirlenir.</a:t>
            </a:r>
            <a:endParaRPr lang="en-US" sz="950" dirty="0"/>
          </a:p>
        </p:txBody>
      </p:sp>
      <p:sp>
        <p:nvSpPr>
          <p:cNvPr id="87" name="Text 45">
            <a:extLst>
              <a:ext uri="{FF2B5EF4-FFF2-40B4-BE49-F238E27FC236}">
                <a16:creationId xmlns:a16="http://schemas.microsoft.com/office/drawing/2014/main" id="{801C623B-6A94-42AB-B76C-EB4419AD75A1}"/>
              </a:ext>
            </a:extLst>
          </p:cNvPr>
          <p:cNvSpPr/>
          <p:nvPr/>
        </p:nvSpPr>
        <p:spPr>
          <a:xfrm>
            <a:off x="7252377" y="1679399"/>
            <a:ext cx="182880" cy="211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8" name="Shape 38">
            <a:extLst>
              <a:ext uri="{FF2B5EF4-FFF2-40B4-BE49-F238E27FC236}">
                <a16:creationId xmlns:a16="http://schemas.microsoft.com/office/drawing/2014/main" id="{157ACE4B-C682-4103-8836-31C5E955E2F4}"/>
              </a:ext>
            </a:extLst>
          </p:cNvPr>
          <p:cNvSpPr/>
          <p:nvPr/>
        </p:nvSpPr>
        <p:spPr>
          <a:xfrm>
            <a:off x="5440680" y="2373719"/>
            <a:ext cx="1572768" cy="1101000"/>
          </a:xfrm>
          <a:prstGeom prst="rect">
            <a:avLst/>
          </a:prstGeom>
          <a:solidFill>
            <a:srgbClr val="0000AA"/>
          </a:solidFill>
          <a:ln w="25400">
            <a:solidFill>
              <a:srgbClr val="FF5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9" name="Shape 39">
            <a:extLst>
              <a:ext uri="{FF2B5EF4-FFF2-40B4-BE49-F238E27FC236}">
                <a16:creationId xmlns:a16="http://schemas.microsoft.com/office/drawing/2014/main" id="{3FF05797-D94D-472E-A511-F822FFABDB2A}"/>
              </a:ext>
            </a:extLst>
          </p:cNvPr>
          <p:cNvSpPr/>
          <p:nvPr/>
        </p:nvSpPr>
        <p:spPr>
          <a:xfrm>
            <a:off x="5440680" y="2373719"/>
            <a:ext cx="1572768" cy="321831"/>
          </a:xfrm>
          <a:prstGeom prst="rect">
            <a:avLst/>
          </a:prstGeom>
          <a:solidFill>
            <a:srgbClr val="FF55FF">
              <a:alpha val="28000"/>
            </a:srgbClr>
          </a:solidFill>
          <a:ln w="12700">
            <a:solidFill>
              <a:srgbClr val="FF55FF"/>
            </a:solidFill>
            <a:prstDash val="solid"/>
          </a:ln>
        </p:spPr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837E5C93-0078-40B3-A3DA-FECF1AFF3BE5}"/>
              </a:ext>
            </a:extLst>
          </p:cNvPr>
          <p:cNvSpPr/>
          <p:nvPr/>
        </p:nvSpPr>
        <p:spPr>
          <a:xfrm>
            <a:off x="5486400" y="2390658"/>
            <a:ext cx="1481328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Kontroller</a:t>
            </a:r>
          </a:p>
        </p:txBody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E386AAC9-F16D-4158-A3CC-7984DFFA5E5B}"/>
              </a:ext>
            </a:extLst>
          </p:cNvPr>
          <p:cNvSpPr/>
          <p:nvPr/>
        </p:nvSpPr>
        <p:spPr>
          <a:xfrm>
            <a:off x="5513832" y="2746365"/>
            <a:ext cx="1426464" cy="69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Oyundaki değerler birbirine bağlı olduğundan kontroller gerekmektedir.</a:t>
            </a:r>
            <a:endParaRPr lang="en-US" sz="950" dirty="0"/>
          </a:p>
        </p:txBody>
      </p:sp>
      <p:sp>
        <p:nvSpPr>
          <p:cNvPr id="92" name="Shape 34">
            <a:extLst>
              <a:ext uri="{FF2B5EF4-FFF2-40B4-BE49-F238E27FC236}">
                <a16:creationId xmlns:a16="http://schemas.microsoft.com/office/drawing/2014/main" id="{AB4EA80B-F620-40A5-94EF-DFE2C13E7793}"/>
              </a:ext>
            </a:extLst>
          </p:cNvPr>
          <p:cNvSpPr/>
          <p:nvPr/>
        </p:nvSpPr>
        <p:spPr>
          <a:xfrm>
            <a:off x="7068312" y="2373092"/>
            <a:ext cx="1572768" cy="1101000"/>
          </a:xfrm>
          <a:prstGeom prst="rect">
            <a:avLst/>
          </a:prstGeom>
          <a:solidFill>
            <a:srgbClr val="0000AA"/>
          </a:solidFill>
          <a:ln w="25400">
            <a:solidFill>
              <a:srgbClr val="FFF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3" name="Shape 35">
            <a:extLst>
              <a:ext uri="{FF2B5EF4-FFF2-40B4-BE49-F238E27FC236}">
                <a16:creationId xmlns:a16="http://schemas.microsoft.com/office/drawing/2014/main" id="{C4159522-EC81-40F1-88E3-44374A48CEFC}"/>
              </a:ext>
            </a:extLst>
          </p:cNvPr>
          <p:cNvSpPr/>
          <p:nvPr/>
        </p:nvSpPr>
        <p:spPr>
          <a:xfrm>
            <a:off x="7068312" y="2373092"/>
            <a:ext cx="1572768" cy="321831"/>
          </a:xfrm>
          <a:prstGeom prst="rect">
            <a:avLst/>
          </a:prstGeom>
          <a:solidFill>
            <a:srgbClr val="FFFF55">
              <a:alpha val="28000"/>
            </a:srgbClr>
          </a:solidFill>
          <a:ln w="12700">
            <a:solidFill>
              <a:srgbClr val="FFFF55"/>
            </a:solidFill>
            <a:prstDash val="solid"/>
          </a:ln>
        </p:spPr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6F21E04C-F009-4912-B979-19354796A241}"/>
              </a:ext>
            </a:extLst>
          </p:cNvPr>
          <p:cNvSpPr/>
          <p:nvPr/>
        </p:nvSpPr>
        <p:spPr>
          <a:xfrm>
            <a:off x="7114032" y="2390031"/>
            <a:ext cx="1481328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rgbClr val="FF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Çizim</a:t>
            </a:r>
            <a:endParaRPr lang="en-US" sz="1000" dirty="0"/>
          </a:p>
        </p:txBody>
      </p:sp>
      <p:sp>
        <p:nvSpPr>
          <p:cNvPr id="95" name="Text 37">
            <a:extLst>
              <a:ext uri="{FF2B5EF4-FFF2-40B4-BE49-F238E27FC236}">
                <a16:creationId xmlns:a16="http://schemas.microsoft.com/office/drawing/2014/main" id="{CBA3A563-BFE9-47D7-8989-7A14DBA61FFA}"/>
              </a:ext>
            </a:extLst>
          </p:cNvPr>
          <p:cNvSpPr/>
          <p:nvPr/>
        </p:nvSpPr>
        <p:spPr>
          <a:xfrm>
            <a:off x="7141464" y="2745738"/>
            <a:ext cx="1426464" cy="69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görsellerin silinmesi ve tekrar çizilmesi için fonksiyonlar çağırılır.</a:t>
            </a:r>
            <a:endParaRPr lang="en-US" sz="95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144EEE59-E573-4467-920B-392305C3ECB3}"/>
              </a:ext>
            </a:extLst>
          </p:cNvPr>
          <p:cNvSpPr/>
          <p:nvPr/>
        </p:nvSpPr>
        <p:spPr>
          <a:xfrm flipH="1">
            <a:off x="7051717" y="3520440"/>
            <a:ext cx="0" cy="32004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98" name="Shape 54">
            <a:extLst>
              <a:ext uri="{FF2B5EF4-FFF2-40B4-BE49-F238E27FC236}">
                <a16:creationId xmlns:a16="http://schemas.microsoft.com/office/drawing/2014/main" id="{11F465E9-A3F7-43B5-820B-80D50A568E63}"/>
              </a:ext>
            </a:extLst>
          </p:cNvPr>
          <p:cNvSpPr/>
          <p:nvPr/>
        </p:nvSpPr>
        <p:spPr>
          <a:xfrm flipV="1">
            <a:off x="6649212" y="3474719"/>
            <a:ext cx="0" cy="235052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99" name="Shape 54">
            <a:extLst>
              <a:ext uri="{FF2B5EF4-FFF2-40B4-BE49-F238E27FC236}">
                <a16:creationId xmlns:a16="http://schemas.microsoft.com/office/drawing/2014/main" id="{AADE6AA4-5A3B-4421-89AE-83929CE55F0D}"/>
              </a:ext>
            </a:extLst>
          </p:cNvPr>
          <p:cNvSpPr/>
          <p:nvPr/>
        </p:nvSpPr>
        <p:spPr>
          <a:xfrm flipV="1">
            <a:off x="5806440" y="3474720"/>
            <a:ext cx="0" cy="106681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00" name="Shape 54">
            <a:extLst>
              <a:ext uri="{FF2B5EF4-FFF2-40B4-BE49-F238E27FC236}">
                <a16:creationId xmlns:a16="http://schemas.microsoft.com/office/drawing/2014/main" id="{9F449577-651A-44CE-8F51-CE7DC2FE5CAE}"/>
              </a:ext>
            </a:extLst>
          </p:cNvPr>
          <p:cNvSpPr/>
          <p:nvPr/>
        </p:nvSpPr>
        <p:spPr>
          <a:xfrm flipV="1">
            <a:off x="6235827" y="3474719"/>
            <a:ext cx="0" cy="17440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03" name="Shape 54">
            <a:extLst>
              <a:ext uri="{FF2B5EF4-FFF2-40B4-BE49-F238E27FC236}">
                <a16:creationId xmlns:a16="http://schemas.microsoft.com/office/drawing/2014/main" id="{B66DB899-C6A6-4060-AEF5-98BFDB9FCC1E}"/>
              </a:ext>
            </a:extLst>
          </p:cNvPr>
          <p:cNvSpPr/>
          <p:nvPr/>
        </p:nvSpPr>
        <p:spPr>
          <a:xfrm flipV="1">
            <a:off x="4461510" y="3520439"/>
            <a:ext cx="0" cy="609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04" name="Shape 54">
            <a:extLst>
              <a:ext uri="{FF2B5EF4-FFF2-40B4-BE49-F238E27FC236}">
                <a16:creationId xmlns:a16="http://schemas.microsoft.com/office/drawing/2014/main" id="{D976D065-6B79-4278-9B44-B6CE61494AB0}"/>
              </a:ext>
            </a:extLst>
          </p:cNvPr>
          <p:cNvSpPr/>
          <p:nvPr/>
        </p:nvSpPr>
        <p:spPr>
          <a:xfrm flipV="1">
            <a:off x="2783967" y="3528059"/>
            <a:ext cx="0" cy="12105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06" name="Shape 54">
            <a:extLst>
              <a:ext uri="{FF2B5EF4-FFF2-40B4-BE49-F238E27FC236}">
                <a16:creationId xmlns:a16="http://schemas.microsoft.com/office/drawing/2014/main" id="{74B20371-0373-491D-B670-CFCBA37F5C27}"/>
              </a:ext>
            </a:extLst>
          </p:cNvPr>
          <p:cNvSpPr/>
          <p:nvPr/>
        </p:nvSpPr>
        <p:spPr>
          <a:xfrm flipV="1">
            <a:off x="1062228" y="3528059"/>
            <a:ext cx="0" cy="181711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07" name="Shape 54">
            <a:extLst>
              <a:ext uri="{FF2B5EF4-FFF2-40B4-BE49-F238E27FC236}">
                <a16:creationId xmlns:a16="http://schemas.microsoft.com/office/drawing/2014/main" id="{3B2FBD3E-6EF3-4759-ACFC-5ABF1F60C927}"/>
              </a:ext>
            </a:extLst>
          </p:cNvPr>
          <p:cNvSpPr/>
          <p:nvPr/>
        </p:nvSpPr>
        <p:spPr>
          <a:xfrm flipV="1">
            <a:off x="2783967" y="3641724"/>
            <a:ext cx="3451860" cy="7395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08" name="Shape 54">
            <a:extLst>
              <a:ext uri="{FF2B5EF4-FFF2-40B4-BE49-F238E27FC236}">
                <a16:creationId xmlns:a16="http://schemas.microsoft.com/office/drawing/2014/main" id="{4402A048-DBBD-4E3C-A74B-C92096FAE444}"/>
              </a:ext>
            </a:extLst>
          </p:cNvPr>
          <p:cNvSpPr/>
          <p:nvPr/>
        </p:nvSpPr>
        <p:spPr>
          <a:xfrm flipV="1">
            <a:off x="1062228" y="3699618"/>
            <a:ext cx="5586984" cy="10153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28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Görseller - 1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FF5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547616" cy="713232"/>
          </a:xfrm>
          <a:prstGeom prst="rect">
            <a:avLst/>
          </a:prstGeom>
          <a:solidFill>
            <a:srgbClr val="0000AA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5×5 = 25 byte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700784"/>
            <a:ext cx="4547616" cy="713232"/>
          </a:xfrm>
          <a:prstGeom prst="rect">
            <a:avLst/>
          </a:prstGeom>
          <a:solidFill>
            <a:srgbClr val="555555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00784"/>
            <a:ext cx="54864" cy="71323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55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Kalpler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048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7×7 = 49 byte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4547616" cy="713232"/>
          </a:xfrm>
          <a:prstGeom prst="rect">
            <a:avLst/>
          </a:prstGeom>
          <a:solidFill>
            <a:srgbClr val="0000AA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87168"/>
            <a:ext cx="54864" cy="713232"/>
          </a:xfrm>
          <a:prstGeom prst="rect">
            <a:avLst/>
          </a:prstGeom>
          <a:solidFill>
            <a:srgbClr val="FFFF55"/>
          </a:solidFill>
          <a:ln w="12700">
            <a:solidFill>
              <a:srgbClr val="FFFF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FF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Başlık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2834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160×32 = 5120 byte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4547616" cy="713232"/>
          </a:xfrm>
          <a:prstGeom prst="rect">
            <a:avLst/>
          </a:prstGeom>
          <a:solidFill>
            <a:srgbClr val="555555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73552"/>
            <a:ext cx="54864" cy="713232"/>
          </a:xfrm>
          <a:prstGeom prst="rect">
            <a:avLst/>
          </a:prstGeom>
          <a:solidFill>
            <a:srgbClr val="FF55FF"/>
          </a:solidFill>
          <a:ln w="12700">
            <a:solidFill>
              <a:srgbClr val="FF5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FF5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Mavi adam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3621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44×36 = 1584 byte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59936"/>
            <a:ext cx="4547616" cy="713232"/>
          </a:xfrm>
          <a:prstGeom prst="rect">
            <a:avLst/>
          </a:prstGeom>
          <a:solidFill>
            <a:srgbClr val="0000AA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59936"/>
            <a:ext cx="54864" cy="713232"/>
          </a:xfrm>
          <a:prstGeom prst="rect">
            <a:avLst/>
          </a:prstGeom>
          <a:solidFill>
            <a:srgbClr val="55FFFF"/>
          </a:solidFill>
          <a:ln w="12700">
            <a:solidFill>
              <a:srgbClr val="55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55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(&lt;= 45) </a:t>
            </a:r>
            <a:r>
              <a:rPr lang="en-US" sz="9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2</a:t>
            </a:r>
            <a:endParaRPr lang="en-US" sz="95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08A42FFB-35B3-4464-A4AB-C7AB5FE380D8}"/>
              </a:ext>
            </a:extLst>
          </p:cNvPr>
          <p:cNvSpPr/>
          <p:nvPr/>
        </p:nvSpPr>
        <p:spPr>
          <a:xfrm>
            <a:off x="367665" y="915162"/>
            <a:ext cx="54864" cy="71323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D986AD1-690B-476E-8E7E-BE6C707AD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250" y="1169892"/>
            <a:ext cx="180000" cy="18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4A1463D-9428-4C02-B3B5-BB882D634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250" y="1941084"/>
            <a:ext cx="252000" cy="252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69AE069-735E-48B1-9749-FCCDB38DB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684" y="2552772"/>
            <a:ext cx="2880000" cy="576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C887BA1-3B47-4107-B4E0-0031368AD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684" y="3306168"/>
            <a:ext cx="792000" cy="648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4034E48-36CB-4FA9-839F-F3CEEEC878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8684" y="4380738"/>
            <a:ext cx="1079981" cy="72000"/>
          </a:xfrm>
          <a:prstGeom prst="rect">
            <a:avLst/>
          </a:prstGeom>
        </p:spPr>
      </p:pic>
      <p:sp>
        <p:nvSpPr>
          <p:cNvPr id="43" name="Shape 7">
            <a:extLst>
              <a:ext uri="{FF2B5EF4-FFF2-40B4-BE49-F238E27FC236}">
                <a16:creationId xmlns:a16="http://schemas.microsoft.com/office/drawing/2014/main" id="{69B7BB6B-179F-4C61-854B-7EFA4612A1F5}"/>
              </a:ext>
            </a:extLst>
          </p:cNvPr>
          <p:cNvSpPr/>
          <p:nvPr/>
        </p:nvSpPr>
        <p:spPr>
          <a:xfrm>
            <a:off x="5057774" y="915161"/>
            <a:ext cx="3629025" cy="3858003"/>
          </a:xfrm>
          <a:prstGeom prst="rect">
            <a:avLst/>
          </a:prstGeom>
          <a:solidFill>
            <a:srgbClr val="555555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C487EE91-017E-4ECB-A104-93D83B05EC84}"/>
              </a:ext>
            </a:extLst>
          </p:cNvPr>
          <p:cNvSpPr/>
          <p:nvPr/>
        </p:nvSpPr>
        <p:spPr>
          <a:xfrm>
            <a:off x="8631935" y="914400"/>
            <a:ext cx="54864" cy="3859200"/>
          </a:xfrm>
          <a:prstGeom prst="rect">
            <a:avLst/>
          </a:prstGeom>
          <a:solidFill>
            <a:srgbClr val="FFFF55"/>
          </a:solidFill>
          <a:ln w="12700">
            <a:solidFill>
              <a:srgbClr val="FFFF55"/>
            </a:solidFill>
            <a:prstDash val="solid"/>
          </a:ln>
        </p:spPr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F5AAEA04-F576-4688-91E2-AF386E006184}"/>
              </a:ext>
            </a:extLst>
          </p:cNvPr>
          <p:cNvSpPr/>
          <p:nvPr/>
        </p:nvSpPr>
        <p:spPr>
          <a:xfrm>
            <a:off x="6658737" y="1029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1200" b="1" dirty="0">
                <a:solidFill>
                  <a:srgbClr val="FF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Görseller hakkında</a:t>
            </a:r>
            <a:endParaRPr lang="en-US" sz="12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F31686AE-A12A-41FF-B96D-9A2A6080C122}"/>
              </a:ext>
            </a:extLst>
          </p:cNvPr>
          <p:cNvSpPr/>
          <p:nvPr/>
        </p:nvSpPr>
        <p:spPr>
          <a:xfrm>
            <a:off x="5151120" y="1349892"/>
            <a:ext cx="3348930" cy="3313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görseller programda byte dizisi olacak şekilde tutulmaktadır. Yani görsellerdeki her piksel bir dizinin içindeki bir sayıdır.</a:t>
            </a:r>
          </a:p>
          <a:p>
            <a:pPr marL="0" indent="0">
              <a:buNone/>
            </a:pPr>
            <a:endParaRPr lang="tr-TR" sz="105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tr-TR" sz="105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Bundan dolayı bu görsellerin dizileri oldukça uzundur. Özellikle mavi adam ve başlık görseli tek başlarına toplam 6704 byte’lık alan kaplamaktadır!</a:t>
            </a:r>
            <a:endParaRPr lang="en-US" sz="1050" dirty="0"/>
          </a:p>
          <a:p>
            <a:pPr marL="0" indent="0">
              <a:buNone/>
            </a:pPr>
            <a:endParaRPr lang="tr-TR" sz="1050" dirty="0"/>
          </a:p>
          <a:p>
            <a:pPr marL="0" indent="0">
              <a:buNone/>
            </a:pPr>
            <a:endParaRPr lang="tr-TR" sz="1050" dirty="0"/>
          </a:p>
          <a:p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uzun dizilerin Emu8086’da tek satır kaplayacak şekilde yazılamaması ve yazılabilse de piksellerin tek tek sayı değerleri olacak şekilde yazılması çok uzun süreceğinden ek programlara başvurulmuştur.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28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Görseller - 2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FF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886967"/>
            <a:ext cx="8412480" cy="4005071"/>
          </a:xfrm>
          <a:prstGeom prst="rect">
            <a:avLst/>
          </a:prstGeom>
          <a:solidFill>
            <a:srgbClr val="0000AA"/>
          </a:solidFill>
          <a:ln w="12700">
            <a:solidFill>
              <a:srgbClr val="AA00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886968"/>
            <a:ext cx="54864" cy="4006800"/>
          </a:xfrm>
          <a:prstGeom prst="rect">
            <a:avLst/>
          </a:prstGeom>
          <a:solidFill>
            <a:srgbClr val="FFFF55"/>
          </a:solidFill>
          <a:ln w="12700">
            <a:solidFill>
              <a:srgbClr val="FFFF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941832"/>
            <a:ext cx="328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FFFF55"/>
                </a:solidFill>
                <a:latin typeface="Consolas" pitchFamily="34" charset="0"/>
              </a:rPr>
              <a:t>Görsellerin byte dizisine çevrimi 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045BDE-D38F-4E60-9133-E3F1F035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40" y="941832"/>
            <a:ext cx="4785360" cy="3874748"/>
          </a:xfrm>
          <a:prstGeom prst="rect">
            <a:avLst/>
          </a:prstGeom>
        </p:spPr>
      </p:pic>
      <p:sp>
        <p:nvSpPr>
          <p:cNvPr id="37" name="Text 13">
            <a:extLst>
              <a:ext uri="{FF2B5EF4-FFF2-40B4-BE49-F238E27FC236}">
                <a16:creationId xmlns:a16="http://schemas.microsoft.com/office/drawing/2014/main" id="{2D0D5A8E-19D8-4A83-B34D-D4A87F531027}"/>
              </a:ext>
            </a:extLst>
          </p:cNvPr>
          <p:cNvSpPr/>
          <p:nvPr/>
        </p:nvSpPr>
        <p:spPr>
          <a:xfrm>
            <a:off x="569976" y="1325880"/>
            <a:ext cx="3240024" cy="3490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Oyuna eklenebilecek diziler basit bir python kodu ile oluşturulmuştur.</a:t>
            </a:r>
          </a:p>
          <a:p>
            <a:pPr marL="0" indent="0">
              <a:buNone/>
            </a:pPr>
            <a:endParaRPr lang="tr-TR" sz="1050" dirty="0"/>
          </a:p>
          <a:p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kodda ilk olarak, seçilecek renklerin bulunduğu bir palet görseli piksellerine ayrılır ve kullanılabilir bütün renkler bir listeye eklenir.</a:t>
            </a:r>
          </a:p>
          <a:p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Ardından diziye çevrilecek görsel yüklenir.</a:t>
            </a:r>
          </a:p>
          <a:p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Döngüde görselin bütün pikselleri sırayla dolaşılır, ve palet renkleriyle karşılaştırılır. Palette olmayan renkler şeffaf kabul edildiğinden yüklenen görselin sadece paletin renklerinden oluşması önemlidir.</a:t>
            </a:r>
          </a:p>
          <a:p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80 pikselde bir yeni satıra geçilir.</a:t>
            </a:r>
          </a:p>
          <a:p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b="1" dirty="0">
                <a:solidFill>
                  <a:srgbClr val="FFF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tr-T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dizisinin son hali ekrana yazdırılır, buradan sonra kopyalanıp programda kullanılabilir.</a:t>
            </a:r>
          </a:p>
          <a:p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tr-T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86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0"/>
            <a:ext cx="73152" cy="457200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731520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0"/>
            <a:ext cx="73152" cy="1005840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0"/>
            <a:ext cx="73152" cy="1280160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73152" cy="1554480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0"/>
            <a:ext cx="73152" cy="457200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73152" cy="731520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0"/>
            <a:ext cx="73152" cy="1005840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0"/>
            <a:ext cx="73152" cy="1280160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0"/>
            <a:ext cx="73152" cy="1554480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0"/>
            <a:ext cx="73152" cy="457200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0"/>
            <a:ext cx="73152" cy="731520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0"/>
            <a:ext cx="73152" cy="1005840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0"/>
            <a:ext cx="73152" cy="1280160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0"/>
            <a:ext cx="73152" cy="1554480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0"/>
            <a:ext cx="73152" cy="457200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0"/>
            <a:ext cx="73152" cy="731520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0"/>
            <a:ext cx="73152" cy="1005840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0"/>
            <a:ext cx="73152" cy="1280160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0"/>
            <a:ext cx="73152" cy="1554480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0"/>
            <a:ext cx="73152" cy="457200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0"/>
            <a:ext cx="73152" cy="731520"/>
          </a:xfrm>
          <a:prstGeom prst="rect">
            <a:avLst/>
          </a:prstGeom>
          <a:solidFill>
            <a:srgbClr val="FF55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0"/>
            <a:ext cx="73152" cy="1005840"/>
          </a:xfrm>
          <a:prstGeom prst="rect">
            <a:avLst/>
          </a:prstGeom>
          <a:solidFill>
            <a:srgbClr val="FFFF55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0"/>
            <a:ext cx="73152" cy="1280160"/>
          </a:xfrm>
          <a:prstGeom prst="rect">
            <a:avLst/>
          </a:prstGeom>
          <a:solidFill>
            <a:srgbClr val="FF55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0"/>
            <a:ext cx="73152" cy="1554480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3600" b="1" dirty="0">
                <a:solidFill>
                  <a:srgbClr val="55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Dinlediğiniz için teşekkürler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1371600" y="2011680"/>
            <a:ext cx="6400800" cy="73152"/>
          </a:xfrm>
          <a:prstGeom prst="rect">
            <a:avLst/>
          </a:prstGeom>
          <a:solidFill>
            <a:srgbClr val="55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2000" y="2480400"/>
            <a:ext cx="8640000" cy="1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hlinkClick r:id="rId3"/>
              </a:rPr>
              <a:t>https://github.com/Domar987/Breakout_sans_blocks</a:t>
            </a:r>
            <a:endParaRPr lang="tr-TR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tr-TR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hlinkClick r:id="rId4"/>
              </a:rPr>
              <a:t>https://github.com/Domar987/Breakout_sans_blocks/tree/Image-to-byte-array-converter-for-emu8086</a:t>
            </a:r>
            <a:endParaRPr lang="tr-TR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914400" y="3749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200" i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Marmara Üniversitesi - Bilgisayar Mühendisliği - Mikroişlemciler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30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002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88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574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146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290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862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434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578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150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436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22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294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580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0866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438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724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010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29600" y="4754880"/>
            <a:ext cx="201168" cy="201168"/>
          </a:xfrm>
          <a:prstGeom prst="rect">
            <a:avLst/>
          </a:prstGeom>
          <a:solidFill>
            <a:srgbClr val="55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58200" y="4754880"/>
            <a:ext cx="201168" cy="201168"/>
          </a:xfrm>
          <a:prstGeom prst="rect">
            <a:avLst/>
          </a:prstGeom>
          <a:solidFill>
            <a:srgbClr val="FF55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686800" y="4754880"/>
            <a:ext cx="201168" cy="201168"/>
          </a:xfrm>
          <a:prstGeom prst="rect">
            <a:avLst/>
          </a:prstGeom>
          <a:solidFill>
            <a:srgbClr val="FFFF55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15400" y="4754880"/>
            <a:ext cx="201168" cy="201168"/>
          </a:xfrm>
          <a:prstGeom prst="rect">
            <a:avLst/>
          </a:prstGeom>
          <a:solidFill>
            <a:srgbClr val="FF55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655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Breakout-Sans-Blocks — x86 Assembly Game</dc:title>
  <dc:subject>PptxGenJS Presentation</dc:subject>
  <dc:creator>PptxGenJS</dc:creator>
  <cp:lastModifiedBy>ömer oduncu</cp:lastModifiedBy>
  <cp:revision>16</cp:revision>
  <dcterms:created xsi:type="dcterms:W3CDTF">2026-04-27T17:27:22Z</dcterms:created>
  <dcterms:modified xsi:type="dcterms:W3CDTF">2026-04-28T05:28:16Z</dcterms:modified>
</cp:coreProperties>
</file>